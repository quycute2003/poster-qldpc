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d8e7e3f94c49aa" /><Relationship Type="http://schemas.openxmlformats.org/officeDocument/2006/relationships/extended-properties" Target="/docProps/app.xml" Id="R65ce48222f7e496f" /><Relationship Type="http://schemas.openxmlformats.org/officeDocument/2006/relationships/officeDocument" Target="/ppt/presentation.xml" Id="R92c65995bfec43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2cd4973ed846e1"/>
  </p:sldMasterIdLst>
  <p:notesMasterIdLst>
    <p:notesMasterId xmlns:r="http://schemas.openxmlformats.org/officeDocument/2006/relationships" r:id="R5496b29e47954309"/>
  </p:notesMasterIdLst>
  <p:sldIdLst>
    <p:sldId xmlns:r="http://schemas.openxmlformats.org/officeDocument/2006/relationships" id="256" r:id="R07a7f375518e4468"/>
  </p:sldIdLst>
  <p:sldSz cx="27000000" cy="43200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5f6bccdeb94eb6" /><Relationship Type="http://schemas.openxmlformats.org/officeDocument/2006/relationships/slideMaster" Target="/ppt/slideMasters/slideMaster1.xml" Id="Rb32cd4973ed846e1" /><Relationship Type="http://schemas.openxmlformats.org/officeDocument/2006/relationships/notesMaster" Target="/ppt/notesMasters/notesMaster1.xml" Id="R5496b29e47954309" /><Relationship Type="http://schemas.openxmlformats.org/officeDocument/2006/relationships/presProps" Target="/ppt/presProps.xml" Id="Rabf161773b7344d8" /><Relationship Type="http://schemas.openxmlformats.org/officeDocument/2006/relationships/viewProps" Target="/ppt/viewProps.xml" Id="Rd9b2999a02b04285" /><Relationship Type="http://schemas.openxmlformats.org/officeDocument/2006/relationships/tableStyles" Target="/ppt/tableStyles.xml" Id="R7b732ba6c72949bf" /><Relationship Type="http://schemas.openxmlformats.org/officeDocument/2006/relationships/slide" Target="/ppt/slides/slide1.xml" Id="R07a7f375518e44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01dbf4e80444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24b936644541d6" /><Relationship Type="http://schemas.openxmlformats.org/officeDocument/2006/relationships/notesMaster" Target="/ppt/notesMasters/notesMaster1.xml" Id="Re6566e8b2cb24b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final_paper_1232964_japluxhwcn2mph76_v2(2).pdf, especially Sections II–IV and Tables I–II. The minimum detector-silent logical mechanism weight plays a distance-like role. The reported screen is a search-dependent verified upper bound and depends on randomized BP+OSD search. It is not code distance or exact DEM distance. There are 45 screen ties among 226 Wilson-ordered pairs. Secondary Kendall tau_b: 0.5627, two-sided p = 0.0007. Code-resampling draws: 20,000 / 20,000. For a question about the isolated screen-8 point: it is one tested instance, not evidence of a statistical outlier; the paper does not establish an instance-specific explanation. Further operating points, decoder transfer and cost savings require separate prospective tests.</a:t>
            </a:r>
          </a:p>
          <ns0:p xmlns:ns0="http://schemas.openxmlformats.org/drawingml/2006/main">
            <ns0:r>
              <ns0:t>Color palette source: official ASIANComNet 2026 presentation template, linked from https://asiancomnet2026.aconf.org/news/8493.html (accessed 7 October 2026). Navy #0B2A4A, blue #1E6FD9, cyan #00B4D8. Existing white background, black body text and earth-orange result frames retained.</ns0:t>
            </ns0:r>
          </ns0:p>
          <ns0:p xmlns:ns0="http://schemas.openxmlformats.org/drawingml/2006/main">
            <ns0:r>
              <ns0:t>Conclusion and future work follow Section IV of the supplied final paper. Original blue ASIANComNet 2026 logo extracted from the official flyer at https://file.aconf.org/conf/hk/2026/01/229273/files/ASIANComNet%202026%20Flyer-0702.pdf. User-supplied images (5) and (6) used as visual branding references. Cost savings remain an untested future question.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e8676140b45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a96765aa242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d5faa0daf4f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7cd1097ef41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6c2870c6d48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615fa7965421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d250ad279a43e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5f1c2920c4c1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6eb82dbef42b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f35ef451514dd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f168083a644a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FA0E6A-847E-4BFE-8BC9-A1207F5C3B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A86A72F-81FF-4BE0-B8D7-8551B8F2B4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10EE61-031E-467E-B546-365B3F59B7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F9AA3B-F253-47B3-8E44-E133403C22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6D2F45-CE51-4BEE-A38C-CF413D7005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B9EFC6-36F2-4C7B-B5F2-26E9F8F3E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A9BB6A-D2A8-42DB-BC50-4F11C1ECCC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CB9E44E-BD9E-44D6-99D4-5F9780C397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A72AA5-DD45-490D-841F-5FADCA34D6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373D7F-CB03-4D5B-9506-298B777ACC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682E2C-7BA5-4B69-AC65-23D8A595E3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483DDC-6C0A-4FAD-BD8B-C442F3871D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0BBD18-2A35-4FD2-9B4C-4B7073D21B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CACAA3-1E8A-418E-8813-DA48A0E02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5CB927-9B49-49B0-B707-DCA915B5D9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E20595-CAAC-4D7D-9DC1-C15C107E6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DB7722D-C7D8-4E01-BF15-527C4F1D36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279A2EE-D51D-4928-BB32-18A3FD755DA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388050D-5FFE-4556-A74A-F6B4C58414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42E0557-2A8E-4B9C-8B44-00FF896D2D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1C456D4-1908-474E-A7D5-6CC9020FE3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60B854-B28D-4049-9028-7628146BF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8A4E5C5-6ED5-4998-9068-DAD715BCBD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CB271F2-7C52-4901-9328-F115F35A741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A85C7AC-146C-4D35-8019-4B0C85C9FB4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D13EA5E-0C27-47E1-A980-69A00AF79F2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4FF96EB-F36E-410C-A0FF-09B6FBD5AE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3996295-AA7D-40BE-9416-8FE9D19607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AF8E5F0-E20B-4B95-929F-2D226B1527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F3E53B-EC79-4C93-86DA-69F02B41D5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7357638-F638-4349-9137-D74F852A4F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E7BF9A2-0331-4C54-9AB1-64ED48F556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FBF376C-2741-4056-B255-ACBE1B808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0B201D8-C7B6-45FC-A524-4C4DE4CA98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10EEE74-3985-400F-8E9F-4354D80A5F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C120701-AC91-447C-A3E5-8E14053C51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7DC747-8C4E-4092-B995-CB927FE02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BE90C0-FB46-4FFD-8F3B-3115BA9572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AD6B27E-4493-4B3C-AF9A-1D48FD8F3E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39514C2-032B-41D1-B1CA-D85A142EAE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EE86282-22D4-4F95-B535-DE745BED74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64D71BC-C9BB-403E-A485-CE566D91B9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9A5062-5A4D-4AC4-98DE-A6B1A3FEA1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9939A09-21EE-466A-8EB6-31741D959BF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187B29-D64B-40B1-A476-F27B6F3EC2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45F82CF-B0C8-484D-9F94-1404E574D2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078D6A9-583E-4DDF-BF41-24A7A491EE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6CC8523-F291-4546-943B-431C85E222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2D6176-B8E2-44CE-9D8A-DA9018507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88D03C-1BC2-446B-905F-F150FFCEFC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60E7A7-98C7-41DD-8DDF-F449309C19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011D9B-74D4-4250-8719-8C1E633F69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141CC0-C9C1-400B-BCE1-CAD9A97119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C7018BF-C035-4563-97CE-D9FEE663F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9CE072B-4B60-4B3F-913A-CD964A3B80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897E0F-53E2-4733-9D8B-3981CFC823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7514D7-064B-4980-B44C-A609F38E4A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2E0907-A251-4803-A2C9-B6309171A6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b99f55c961474e" /><Relationship Type="http://schemas.openxmlformats.org/officeDocument/2006/relationships/slideLayout" Target="/ppt/slideLayouts/slideLayout1.xml" Id="R2a7666d4c90d41c1" /><Relationship Type="http://schemas.openxmlformats.org/officeDocument/2006/relationships/slideLayout" Target="/ppt/slideLayouts/slideLayout2.xml" Id="R801db84f98644449" /><Relationship Type="http://schemas.openxmlformats.org/officeDocument/2006/relationships/slideLayout" Target="/ppt/slideLayouts/slideLayout3.xml" Id="R5bdce96f2f844fba" /><Relationship Type="http://schemas.openxmlformats.org/officeDocument/2006/relationships/slideLayout" Target="/ppt/slideLayouts/slideLayout4.xml" Id="R83c9d5b3b1664f9b" /><Relationship Type="http://schemas.openxmlformats.org/officeDocument/2006/relationships/slideLayout" Target="/ppt/slideLayouts/slideLayout5.xml" Id="R4b23f9efed414822" /><Relationship Type="http://schemas.openxmlformats.org/officeDocument/2006/relationships/slideLayout" Target="/ppt/slideLayouts/slideLayout6.xml" Id="R83dddfb8ceff464d" /><Relationship Type="http://schemas.openxmlformats.org/officeDocument/2006/relationships/slideLayout" Target="/ppt/slideLayouts/slideLayout7.xml" Id="R1e295caac4a142df" /><Relationship Type="http://schemas.openxmlformats.org/officeDocument/2006/relationships/slideLayout" Target="/ppt/slideLayouts/slideLayout8.xml" Id="Rf802288a43054ad8" /><Relationship Type="http://schemas.openxmlformats.org/officeDocument/2006/relationships/slideLayout" Target="/ppt/slideLayouts/slideLayout9.xml" Id="R48efb1b6e5b7425a" /><Relationship Type="http://schemas.openxmlformats.org/officeDocument/2006/relationships/slideLayout" Target="/ppt/slideLayouts/slideLayout10.xml" Id="R0a18b6a96d424386" /><Relationship Type="http://schemas.openxmlformats.org/officeDocument/2006/relationships/slideLayout" Target="/ppt/slideLayouts/slideLayout11.xml" Id="R603cc70413134fd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AC06AF8-15AB-4F5F-8646-2FDE1EA467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75847B-ABDA-4670-9CC1-F69E6F6FFB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B5F81D9-4153-4CA7-9A75-857FD26A3E1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AD78E93-0E01-4010-8F31-0CC20C75C4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90A6A5F-8CF7-4E80-A4F5-C4A7603A6A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7666d4c90d41c1"/>
    <p:sldLayoutId xmlns:r="http://schemas.openxmlformats.org/officeDocument/2006/relationships" id="2147483650" r:id="R801db84f98644449"/>
    <p:sldLayoutId xmlns:r="http://schemas.openxmlformats.org/officeDocument/2006/relationships" id="2147483651" r:id="R5bdce96f2f844fba"/>
    <p:sldLayoutId xmlns:r="http://schemas.openxmlformats.org/officeDocument/2006/relationships" id="2147483652" r:id="R83c9d5b3b1664f9b"/>
    <p:sldLayoutId xmlns:r="http://schemas.openxmlformats.org/officeDocument/2006/relationships" id="2147483653" r:id="R4b23f9efed414822"/>
    <p:sldLayoutId xmlns:r="http://schemas.openxmlformats.org/officeDocument/2006/relationships" id="2147483654" r:id="R83dddfb8ceff464d"/>
    <p:sldLayoutId xmlns:r="http://schemas.openxmlformats.org/officeDocument/2006/relationships" id="2147483655" r:id="R1e295caac4a142df"/>
    <p:sldLayoutId xmlns:r="http://schemas.openxmlformats.org/officeDocument/2006/relationships" id="2147483656" r:id="Rf802288a43054ad8"/>
    <p:sldLayoutId xmlns:r="http://schemas.openxmlformats.org/officeDocument/2006/relationships" id="2147483657" r:id="R48efb1b6e5b7425a"/>
    <p:sldLayoutId xmlns:r="http://schemas.openxmlformats.org/officeDocument/2006/relationships" id="2147483658" r:id="R0a18b6a96d424386"/>
    <p:sldLayoutId xmlns:r="http://schemas.openxmlformats.org/officeDocument/2006/relationships" id="2147483659" r:id="R603cc70413134fd9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00be80d28ebd456c"/><Relationship Type="http://schemas.openxmlformats.org/officeDocument/2006/relationships/image" Target="/ppt/media/image.png" Id="Rd2714bbf9c3c4b0b"/><Relationship Type="http://schemas.openxmlformats.org/officeDocument/2006/relationships/notesSlide" Target="/ppt/notesSlides/notesSlide1.xml" Id="Rbe0f33f65a08486c"/><Relationship Id="rIdConferenceLogoV7" Type="http://schemas.openxmlformats.org/officeDocument/2006/relationships/image" Target="../media/asiancomnet2026_logo.png"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cxnSp>
        <p:nvCxnSpPr>
          <p:cNvPr id="102" name=""/>
          <p:cNvCxnSpPr>
            <a:stCxn id="77" idx="2"/>
            <a:endCxn id="87" idx="0"/>
          </p:cNvCxnSpPr>
          <p:nvPr/>
        </p:nvCxnSpPr>
        <p:spPr>
          <a:xfrm>
            <a:off x="10170000" y="21528000"/>
            <a:ext cx="9000" cy="1386000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03" name=""/>
          <p:cNvCxnSpPr>
            <a:stCxn id="76" idx="2"/>
            <a:endCxn id="86" idx="0"/>
          </p:cNvCxnSpPr>
          <p:nvPr/>
        </p:nvCxnSpPr>
        <p:spPr>
          <a:xfrm>
            <a:off x="3870000" y="21528000"/>
            <a:ext cx="9000" cy="1386000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04" name=""/>
          <p:cNvCxnSpPr>
            <a:stCxn id="74" idx="2"/>
            <a:endCxn id="77" idx="0"/>
          </p:cNvCxnSpPr>
          <p:nvPr/>
        </p:nvCxnSpPr>
        <p:spPr>
          <a:xfrm>
            <a:off x="7020000" y="19980000"/>
            <a:ext cx="3150000" cy="360000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05" name=""/>
          <p:cNvCxnSpPr>
            <a:stCxn id="74" idx="2"/>
            <a:endCxn id="76" idx="0"/>
          </p:cNvCxnSpPr>
          <p:nvPr/>
        </p:nvCxnSpPr>
        <p:spPr>
          <a:xfrm flipH="1">
            <a:off x="3870000" y="19980000"/>
            <a:ext cx="3150000" cy="360000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3" name="TextBox 2">
            <a:extLst>
              <a:ext uri="{FF2B5EF4-FFF2-40B4-BE49-F238E27FC236}">
                <ns2:creationId id="{D964DA1A-4EDB-46BE-89DC-C6427EAEC75C}"/>
              </a:ext>
            </a:extLst>
          </p:cNvPr>
          <p:cNvSpPr>
            <a:spLocks noGrp="1"/>
          </p:cNvSpPr>
          <p:nvPr/>
        </p:nvSpPr>
        <p:spPr>
          <a:xfrm>
            <a:off x="18000000" y="719999"/>
            <a:ext cx="7920000" cy="57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34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t>Presentation ID 88</a:t>
            </a:r>
          </a:p>
        </p:txBody>
      </p:sp>
      <p:sp>
        <p:nvSpPr>
          <p:cNvPr id="4" name="TextBox 3">
            <a:extLst>
              <a:ext uri="{FF2B5EF4-FFF2-40B4-BE49-F238E27FC236}">
                <ns2:creationId id="{E1E4F82A-45EC-49C8-9643-FF7161EA3BF2}"/>
              </a:ext>
            </a:extLst>
          </p:cNvPr>
          <p:cNvSpPr>
            <a:spLocks noGrp="1"/>
          </p:cNvSpPr>
          <p:nvPr/>
        </p:nvSpPr>
        <p:spPr>
          <a:xfrm>
            <a:off x="1080000" y="1781999"/>
            <a:ext cx="24839999" cy="300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di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661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pc="0"/>
              <a:t>A</a:t>
            </a:r>
            <a:r>
              <a:rPr spc="1025"/>
              <a:t> </a:t>
            </a:r>
            <a:r>
              <a:rPr spc="0"/>
              <a:t>Prospective</a:t>
            </a:r>
            <a:r>
              <a:rPr spc="1025"/>
              <a:t> </a:t>
            </a:r>
            <a:r>
              <a:rPr spc="0"/>
              <a:t>Rank</a:t>
            </a:r>
            <a:r>
              <a:rPr spc="1025"/>
              <a:t> </a:t>
            </a:r>
            <a:r>
              <a:rPr spc="0"/>
              <a:t>Test</a:t>
            </a:r>
            <a:r>
              <a:rPr spc="1025"/>
              <a:t> </a:t>
            </a:r>
            <a:r>
              <a:rPr spc="0"/>
              <a:t>of</a:t>
            </a:r>
            <a:r>
              <a:rPr spc="1025"/>
              <a:t> </a:t>
            </a:r>
            <a:r>
              <a:rPr spc="0"/>
              <a:t>a</a:t>
            </a:r>
            <a:r>
              <a:rPr spc="1025"/>
              <a:t> </a:t>
            </a:r>
            <a:r>
              <a:rPr spc="0"/>
              <a:t>Detector-Error-Model</a:t>
            </a:r>
          </a:p>
          <a:p>
            <a:pPr algn="di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661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pc="0"/>
              <a:t>Weight</a:t>
            </a:r>
            <a:r>
              <a:rPr spc="2829"/>
              <a:t> </a:t>
            </a:r>
            <a:r>
              <a:rPr spc="0"/>
              <a:t>Screen</a:t>
            </a:r>
            <a:r>
              <a:rPr spc="2829"/>
              <a:t> </a:t>
            </a:r>
            <a:r>
              <a:rPr spc="0"/>
              <a:t>for</a:t>
            </a:r>
            <a:r>
              <a:rPr spc="2829"/>
              <a:t> </a:t>
            </a:r>
            <a:r>
              <a:rPr spc="0"/>
              <a:t>Circuit-Level</a:t>
            </a:r>
            <a:r>
              <a:rPr spc="2829"/>
              <a:t> </a:t>
            </a:r>
            <a:r>
              <a:rPr spc="0"/>
              <a:t>qLDPC</a:t>
            </a:r>
            <a:r>
              <a:rPr spc="2829"/>
              <a:t> </a:t>
            </a:r>
            <a:r>
              <a:rPr spc="0"/>
              <a:t>Decoding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9D00047B-27AE-4281-A4F5-CA4613EBD3A9}"/>
              </a:ext>
            </a:extLst>
          </p:cNvPr>
          <p:cNvSpPr>
            <a:spLocks noGrp="1"/>
          </p:cNvSpPr>
          <p:nvPr/>
        </p:nvSpPr>
        <p:spPr>
          <a:xfrm>
            <a:off x="1080000" y="5094000"/>
            <a:ext cx="24839999" cy="68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8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t>Hung N. Dang and Quy X. Pham</a:t>
            </a:r>
          </a:p>
        </p:txBody>
      </p:sp>
      <p:sp>
        <p:nvSpPr>
          <p:cNvPr id="6" name="TextBox 5">
            <a:extLst>
              <a:ext uri="{FF2B5EF4-FFF2-40B4-BE49-F238E27FC236}">
                <ns2:creationId id="{D89E485F-2769-46AE-99CD-812E7F7A2530}"/>
              </a:ext>
            </a:extLst>
          </p:cNvPr>
          <p:cNvSpPr>
            <a:spLocks noGrp="1"/>
          </p:cNvSpPr>
          <p:nvPr/>
        </p:nvSpPr>
        <p:spPr>
          <a:xfrm>
            <a:off x="1080000" y="5904000"/>
            <a:ext cx="24839999" cy="46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8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t>Faculty of Information Technology · Posts and Telecommunications Institute of Technology (PTIT), Hanoi, Vietnam</a:t>
            </a:r>
          </a:p>
        </p:txBody>
      </p:sp>
      <p:sp>
        <p:nvSpPr>
          <p:cNvPr id="7" name="Connector 6">
            <a:extLst>
              <a:ext uri="{FF2B5EF4-FFF2-40B4-BE49-F238E27FC236}">
                <ns2:creationId id="{9C5045E6-C54D-4842-B92A-D30B236428EB}"/>
              </a:ext>
            </a:extLst>
          </p:cNvPr>
          <p:cNvSpPr>
            <a:spLocks noGrp="1"/>
          </p:cNvSpPr>
          <p:nvPr/>
        </p:nvSpPr>
        <p:spPr>
          <a:xfrm>
            <a:off x="1080000" y="6732000"/>
            <a:ext cx="24840000" cy="0"/>
          </a:xfrm>
          <a:prstGeom prst="line">
            <a:avLst/>
          </a:prstGeom>
          <a:ln w="19050">
            <a:solidFill>
              <a:srgbClr val="00B4D8"/>
            </a:solidFill>
          </a:ln>
        </p:spPr>
      </p:sp>
      <p:sp>
        <p:nvSpPr>
          <p:cNvPr id="8" name="TextBox 7">
            <a:extLst>
              <a:ext uri="{FF2B5EF4-FFF2-40B4-BE49-F238E27FC236}">
                <ns2:creationId id="{1041075F-5E7D-4CBD-9EA0-BFA5359D48DE}"/>
              </a:ext>
            </a:extLst>
          </p:cNvPr>
          <p:cNvSpPr>
            <a:spLocks noGrp="1"/>
          </p:cNvSpPr>
          <p:nvPr/>
        </p:nvSpPr>
        <p:spPr>
          <a:xfrm>
            <a:off x="1080000" y="7200000"/>
            <a:ext cx="24839999" cy="75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826" b="1">
                <a:solidFill>
                  <a:srgbClr val="0B2A4A"/>
                </a:solidFill>
                <a:latin typeface="DejaVu Sans"/>
                <a:ea typeface="DejaVu Sans"/>
                <a:cs typeface="DejaVu Sans"/>
              </a:defRPr>
            </a:pPr>
            <a:r>
              <a:t>1  Motivation and research question</a:t>
            </a:r>
          </a:p>
        </p:txBody>
      </p:sp>
      <p:sp>
        <p:nvSpPr>
          <p:cNvPr id="9" name="TextBox 8">
            <a:extLst>
              <a:ext uri="{FF2B5EF4-FFF2-40B4-BE49-F238E27FC236}">
                <ns2:creationId id="{370204C0-6D11-4242-9EDB-33675CBA1F06}"/>
              </a:ext>
            </a:extLst>
          </p:cNvPr>
          <p:cNvSpPr>
            <a:spLocks noGrp="1"/>
          </p:cNvSpPr>
          <p:nvPr/>
        </p:nvSpPr>
        <p:spPr>
          <a:xfrm>
            <a:off x="1080000" y="8064000"/>
            <a:ext cx="24839999" cy="102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976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t>Circuit-level Monte Carlo evaluation is costly across many candidate instances.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976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t>We test a DEM-based ranking screen before measuring new logical-block error rates (LERs).</a:t>
            </a:r>
          </a:p>
        </p:txBody>
      </p:sp>
      <p:sp>
        <p:nvSpPr>
          <p:cNvPr id="10" name="Rounded Rectangle 9">
            <a:extLst>
              <a:ext uri="{FF2B5EF4-FFF2-40B4-BE49-F238E27FC236}">
                <ns2:creationId id="{870D7184-0EDD-480B-A857-905E22FC6642}"/>
              </a:ext>
            </a:extLst>
          </p:cNvPr>
          <p:cNvSpPr>
            <a:spLocks noGrp="1"/>
          </p:cNvSpPr>
          <p:nvPr/>
        </p:nvSpPr>
        <p:spPr>
          <a:xfrm>
            <a:off x="1080000" y="9342000"/>
            <a:ext cx="24839999" cy="153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65A1E"/>
            </a:solidFill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>
            <a:extLst>
              <a:ext uri="{FF2B5EF4-FFF2-40B4-BE49-F238E27FC236}">
                <ns2:creationId id="{3DEB169F-8704-48F5-A6F0-9C6EDB232C24}"/>
              </a:ext>
            </a:extLst>
          </p:cNvPr>
          <p:cNvSpPr>
            <a:spLocks noGrp="1"/>
          </p:cNvSpPr>
          <p:nvPr/>
        </p:nvSpPr>
        <p:spPr>
          <a:xfrm>
            <a:off x="1440000" y="9280800"/>
            <a:ext cx="24120000" cy="15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1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t>Can DEM structure rank which complete code–circuit–decoder instances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1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t>BP+OSD decodes more reliably, before new LER results are known?</a:t>
            </a:r>
          </a:p>
        </p:txBody>
      </p:sp>
      <p:sp>
        <p:nvSpPr>
          <p:cNvPr id="13" name="TextBox 12">
            <a:extLst>
              <a:ext uri="{FF2B5EF4-FFF2-40B4-BE49-F238E27FC236}">
                <ns2:creationId id="{66EF35AB-3967-43DE-962C-7D326604B707}"/>
              </a:ext>
            </a:extLst>
          </p:cNvPr>
          <p:cNvSpPr>
            <a:spLocks noGrp="1"/>
          </p:cNvSpPr>
          <p:nvPr/>
        </p:nvSpPr>
        <p:spPr>
          <a:xfrm>
            <a:off x="1080000" y="11340000"/>
            <a:ext cx="24840000" cy="52157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976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Connection to classical LDPC decoding</a:t>
            </a:r>
          </a:p>
        </p:txBody>
      </p:sp>
      <p:sp>
        <p:nvSpPr>
          <p:cNvPr id="14" name="TextBox 13">
            <a:extLst>
              <a:ext uri="{FF2B5EF4-FFF2-40B4-BE49-F238E27FC236}">
                <ns2:creationId id="{C1E21DBE-FDB2-481E-907F-829CFE41B7D9}"/>
              </a:ext>
            </a:extLst>
          </p:cNvPr>
          <p:cNvSpPr>
            <a:spLocks noGrp="1"/>
          </p:cNvSpPr>
          <p:nvPr/>
        </p:nvSpPr>
        <p:spPr>
          <a:xfrm>
            <a:off x="1080000" y="12006000"/>
            <a:ext cx="24840000" cy="4844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64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764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DEM: Tanner graph for syndrome decoding.  Logical-block LER: analogue of FER / word-error rate.</a:t>
            </a:r>
          </a:p>
        </p:txBody>
      </p:sp>
      <p:sp>
        <p:nvSpPr>
          <p:cNvPr id="15" name="TextBox 14">
            <a:extLst>
              <a:ext uri="{FF2B5EF4-FFF2-40B4-BE49-F238E27FC236}">
                <ns2:creationId id="{C987AD84-56F5-4499-AB70-0DC1C5EBC5A3}"/>
              </a:ext>
            </a:extLst>
          </p:cNvPr>
          <p:cNvSpPr>
            <a:spLocks noGrp="1"/>
          </p:cNvSpPr>
          <p:nvPr/>
        </p:nvSpPr>
        <p:spPr>
          <a:xfrm>
            <a:off x="1080000" y="12654000"/>
            <a:ext cx="24840000" cy="4595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22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22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Minimum detector-silent logical weight plays a distance-like role. The screen is a verified upper bound.</a:t>
            </a:r>
          </a:p>
        </p:txBody>
      </p:sp>
      <p:sp>
        <p:nvSpPr>
          <p:cNvPr id="16" name="TextBox 15">
            <a:extLst>
              <a:ext uri="{FF2B5EF4-FFF2-40B4-BE49-F238E27FC236}">
                <ns2:creationId id="{708064CB-25ED-4364-A512-0DE48730235F}"/>
              </a:ext>
            </a:extLst>
          </p:cNvPr>
          <p:cNvSpPr>
            <a:spLocks noGrp="1"/>
          </p:cNvSpPr>
          <p:nvPr/>
        </p:nvSpPr>
        <p:spPr>
          <a:xfrm>
            <a:off x="1080000" y="13608000"/>
            <a:ext cx="11880000" cy="75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826" b="1">
                <a:solidFill>
                  <a:srgbClr val="0B2A4A"/>
                </a:solidFill>
                <a:latin typeface="DejaVu Sans"/>
                <a:ea typeface="DejaVu Sans"/>
                <a:cs typeface="DejaVu Sans"/>
              </a:defRPr>
            </a:pPr>
            <a:r>
              <a:t>2  Building the DEM-weight screen</a:t>
            </a:r>
          </a:p>
        </p:txBody>
      </p:sp>
      <p:sp>
        <p:nvSpPr>
          <p:cNvPr id="17" name="TextBox 16">
            <a:extLst>
              <a:ext uri="{FF2B5EF4-FFF2-40B4-BE49-F238E27FC236}">
                <ns2:creationId id="{F2CE721C-CB7F-4CD0-ACF8-44A3E38514F9}"/>
              </a:ext>
            </a:extLst>
          </p:cNvPr>
          <p:cNvSpPr>
            <a:spLocks noGrp="1"/>
          </p:cNvSpPr>
          <p:nvPr/>
        </p:nvSpPr>
        <p:spPr>
          <a:xfrm>
            <a:off x="14040000" y="13608000"/>
            <a:ext cx="11880000" cy="75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826" b="1">
                <a:solidFill>
                  <a:srgbClr val="0B2A4A"/>
                </a:solidFill>
                <a:latin typeface="DejaVu Sans"/>
                <a:ea typeface="DejaVu Sans"/>
                <a:cs typeface="DejaVu Sans"/>
              </a:defRPr>
            </a:pPr>
            <a:r>
              <a:t>3  The prospective test</a:t>
            </a:r>
          </a:p>
        </p:txBody>
      </p:sp>
      <p:sp>
        <p:nvSpPr>
          <p:cNvPr id="18" name="TextBox 17">
            <a:extLst>
              <a:ext uri="{FF2B5EF4-FFF2-40B4-BE49-F238E27FC236}">
                <ns2:creationId id="{399825D2-E0B1-4B8C-957D-532A37F646BA}"/>
              </a:ext>
            </a:extLst>
          </p:cNvPr>
          <p:cNvSpPr>
            <a:spLocks noGrp="1"/>
          </p:cNvSpPr>
          <p:nvPr/>
        </p:nvSpPr>
        <p:spPr>
          <a:xfrm>
            <a:off x="1080000" y="14562000"/>
            <a:ext cx="11880000" cy="158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34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t>A detector error model (DEM) records which detectors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34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t>each fault mechanism triggers and which logical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34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t>observables it flips.</a:t>
            </a:r>
          </a:p>
        </p:txBody>
      </p:sp>
      <p:sp>
        <p:nvSpPr>
          <p:cNvPr id="19" name="TextBox 18">
            <a:extLst>
              <a:ext uri="{FF2B5EF4-FFF2-40B4-BE49-F238E27FC236}">
                <ns2:creationId id="{E5E0B523-4260-40AE-B0E7-0B4F06175048}"/>
              </a:ext>
            </a:extLst>
          </p:cNvPr>
          <p:cNvSpPr>
            <a:spLocks noGrp="1"/>
          </p:cNvSpPr>
          <p:nvPr/>
        </p:nvSpPr>
        <p:spPr>
          <a:xfrm>
            <a:off x="1080000" y="16200000"/>
            <a:ext cx="11880000" cy="14905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83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Screen </a:t>
            </a:r>
            <a:r>
              <a:rPr sz="283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d̂</a:t>
            </a:r>
            <a:r>
              <a:rPr sz="2835" b="0" baseline="-250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upper</a:t>
            </a:r>
            <a:r>
              <a:rPr sz="283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: smallest verified mechanism count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83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found for a pattern that triggers no detectors but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83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flips a logical observable, if the stability gate passes.</a:t>
            </a:r>
          </a:p>
        </p:txBody>
      </p:sp>
      <p:sp>
        <p:nvSpPr>
          <p:cNvPr id="20" name="TextBox 19">
            <a:extLst>
              <a:ext uri="{FF2B5EF4-FFF2-40B4-BE49-F238E27FC236}">
                <ns2:creationId id="{2FFADE3C-8482-481B-9B6B-127400E1075C}"/>
              </a:ext>
            </a:extLst>
          </p:cNvPr>
          <p:cNvSpPr>
            <a:spLocks noGrp="1"/>
          </p:cNvSpPr>
          <p:nvPr/>
        </p:nvSpPr>
        <p:spPr>
          <a:xfrm>
            <a:off x="1080000" y="17910000"/>
            <a:ext cx="11880000" cy="4595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22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22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Verified upper bound, not code or exact DEM distance.</a:t>
            </a:r>
          </a:p>
        </p:txBody>
      </p:sp>
      <p:sp>
        <p:nvSpPr>
          <p:cNvPr id="41" name="TextBox 40">
            <a:extLst>
              <a:ext uri="{FF2B5EF4-FFF2-40B4-BE49-F238E27FC236}">
                <ns2:creationId id="{C533063A-9638-49AE-8EA9-7DCFFD280CE7}"/>
              </a:ext>
            </a:extLst>
          </p:cNvPr>
          <p:cNvSpPr>
            <a:spLocks noGrp="1"/>
          </p:cNvSpPr>
          <p:nvPr/>
        </p:nvSpPr>
        <p:spPr>
          <a:xfrm>
            <a:off x="14040000" y="14562000"/>
            <a:ext cx="11880000" cy="151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34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t>Freeze the bank, circuit, decoder, budget and decision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34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t>rules before new LER labels. Four development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34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t>anchors are excluded from the confirmatory score.</a:t>
            </a:r>
          </a:p>
        </p:txBody>
      </p:sp>
      <p:sp>
        <p:nvSpPr>
          <p:cNvPr id="42" name="TextBox 41">
            <a:extLst>
              <a:ext uri="{FF2B5EF4-FFF2-40B4-BE49-F238E27FC236}">
                <ns2:creationId id="{CA05B1A1-D672-44E0-A448-42F1FC6A0832}"/>
              </a:ext>
            </a:extLst>
          </p:cNvPr>
          <p:cNvSpPr>
            <a:spLocks noGrp="1"/>
          </p:cNvSpPr>
          <p:nvPr/>
        </p:nvSpPr>
        <p:spPr>
          <a:xfrm>
            <a:off x="14040000" y="16308000"/>
            <a:ext cx="11880000" cy="4844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64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764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Table I. Frozen experimental settings (summary)</a:t>
            </a:r>
          </a:p>
        </p:txBody>
      </p:sp>
      <p:graphicFrame>
        <p:nvGraphicFramePr>
          <p:cNvPr id="126" name="Table 42"/>
          <p:cNvGraphicFramePr/>
          <p:nvPr/>
        </p:nvGraphicFramePr>
        <p:xfrm>
          <a:off x="14040000" y="17046000"/>
          <a:ext cx="11880000" cy="685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0000"/>
                <a:gridCol w="8550000"/>
              </a:tblGrid>
              <a:tr h="684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622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Item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622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Frozen value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999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Population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 complete instances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999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Development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BB72, BB90, BB144, BB288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999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Confirmatory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 instances; development excluded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8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Circuit point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 = 0.003; 6 rounds; X-basis memory;</a:t>
                      </a: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SI1000 noise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9999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Schedule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EdgeColoringXZ, smallest-last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8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Decoder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Product-sum BP, 32 iterations;</a:t>
                      </a: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OSD-CS order 10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8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Sampling budget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20,000 shots/instance; 640,000 total;</a:t>
                      </a:r>
                    </a:p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early stop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ns2:creationId id="{8C9464CB-D279-43D2-8DC1-32D6A880CB55}"/>
              </a:ext>
            </a:extLst>
          </p:cNvPr>
          <p:cNvSpPr>
            <a:spLocks noGrp="1"/>
          </p:cNvSpPr>
          <p:nvPr/>
        </p:nvSpPr>
        <p:spPr>
          <a:xfrm>
            <a:off x="1080000" y="25200000"/>
            <a:ext cx="24839999" cy="75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826" b="1">
                <a:solidFill>
                  <a:srgbClr val="0B2A4A"/>
                </a:solidFill>
                <a:latin typeface="DejaVu Sans"/>
                <a:ea typeface="DejaVu Sans"/>
                <a:cs typeface="DejaVu Sans"/>
              </a:defRPr>
            </a:pPr>
            <a:r>
              <a:t>4  Ranking agreement and evidence</a:t>
            </a:r>
          </a:p>
        </p:txBody>
      </p:sp>
      <p:sp>
        <p:nvSpPr>
          <p:cNvPr id="46" name="TextBox 45">
            <a:extLst>
              <a:ext uri="{FF2B5EF4-FFF2-40B4-BE49-F238E27FC236}">
                <ns2:creationId id="{487CCAC4-3158-47EE-AD56-0411377F104E}"/>
              </a:ext>
            </a:extLst>
          </p:cNvPr>
          <p:cNvSpPr>
            <a:spLocks noGrp="1"/>
          </p:cNvSpPr>
          <p:nvPr/>
        </p:nvSpPr>
        <p:spPr>
          <a:xfrm>
            <a:off x="1080000" y="26118000"/>
            <a:ext cx="24839999" cy="97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34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t>Logical-block LER is the fraction of sampled blocks with any logical observable decoded incorrectly.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34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t>Pairs are ordered only when their Wilson 95% LER intervals do not overlap.</a:t>
            </a:r>
          </a:p>
        </p:txBody>
      </p:sp>
      <p:sp>
        <p:nvSpPr>
          <p:cNvPr id="47" name="TextBox 46">
            <a:extLst>
              <a:ext uri="{FF2B5EF4-FFF2-40B4-BE49-F238E27FC236}">
                <ns2:creationId id="{5D99A4C5-EA19-43A3-91DD-4FDAC232E600}"/>
              </a:ext>
            </a:extLst>
          </p:cNvPr>
          <p:cNvSpPr>
            <a:spLocks noGrp="1"/>
          </p:cNvSpPr>
          <p:nvPr/>
        </p:nvSpPr>
        <p:spPr>
          <a:xfrm>
            <a:off x="1080000" y="27144000"/>
            <a:ext cx="11880000" cy="471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93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93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Rank hypothesis: higher screen predicts lower LER.</a:t>
            </a:r>
          </a:p>
        </p:txBody>
      </p:sp>
      <p:pic>
        <p:nvPicPr>
          <p:cNvPr id="130" name="Picture 47"/>
          <p:cNvPicPr>
            <a:picLocks noChangeAspect="1"/>
          </p:cNvPicPr>
          <p:nvPr/>
        </p:nvPicPr>
        <p:blipFill>
          <a:blip r:embed="Rd2714bbf9c3c4b0b"/>
          <a:stretch>
            <a:fillRect l="0" t="0" r="0" b="0"/>
          </a:stretch>
        </p:blipFill>
        <p:spPr>
          <a:xfrm>
            <a:off x="1080000" y="27630000"/>
            <a:ext cx="11880000" cy="804430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ns2:creationId id="{FA38F2C8-054A-448E-A3B2-0991453391A5}"/>
              </a:ext>
            </a:extLst>
          </p:cNvPr>
          <p:cNvSpPr>
            <a:spLocks noGrp="1"/>
          </p:cNvSpPr>
          <p:nvPr/>
        </p:nvSpPr>
        <p:spPr>
          <a:xfrm>
            <a:off x="6300000" y="29052000"/>
            <a:ext cx="6030000" cy="943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93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93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Same screen value,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93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93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different LER.</a:t>
            </a:r>
          </a:p>
        </p:txBody>
      </p:sp>
      <p:sp>
        <p:nvSpPr>
          <p:cNvPr id="50" name="TextBox 49">
            <a:extLst>
              <a:ext uri="{FF2B5EF4-FFF2-40B4-BE49-F238E27FC236}">
                <ns2:creationId id="{A1B10C6B-B1CB-4A5C-9C85-E335450E8D58}"/>
              </a:ext>
            </a:extLst>
          </p:cNvPr>
          <p:cNvSpPr>
            <a:spLocks noGrp="1"/>
          </p:cNvSpPr>
          <p:nvPr/>
        </p:nvSpPr>
        <p:spPr>
          <a:xfrm>
            <a:off x="1080000" y="35838000"/>
            <a:ext cx="11880000" cy="81986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339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39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Fig. 2. Wilson 95% bars. Horizontal jitter separates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339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39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equal integer screen values.</a:t>
            </a:r>
          </a:p>
        </p:txBody>
      </p:sp>
      <p:sp>
        <p:nvSpPr>
          <p:cNvPr id="51" name="TextBox 50">
            <a:extLst>
              <a:ext uri="{FF2B5EF4-FFF2-40B4-BE49-F238E27FC236}">
                <ns2:creationId id="{73C579B9-BBCD-41B4-B7B6-6C31F1C99F52}"/>
              </a:ext>
            </a:extLst>
          </p:cNvPr>
          <p:cNvSpPr>
            <a:spLocks noGrp="1"/>
          </p:cNvSpPr>
          <p:nvPr/>
        </p:nvSpPr>
        <p:spPr>
          <a:xfrm>
            <a:off x="14040000" y="27144000"/>
            <a:ext cx="11880000" cy="4844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764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764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Table II. Confirmatory pair results (summary)</a:t>
            </a:r>
          </a:p>
        </p:txBody>
      </p:sp>
      <p:graphicFrame>
        <p:nvGraphicFramePr>
          <p:cNvPr id="134" name="Table 51"/>
          <p:cNvGraphicFramePr/>
          <p:nvPr/>
        </p:nvGraphicFramePr>
        <p:xfrm>
          <a:off x="14040000" y="27882000"/>
          <a:ext cx="11880000" cy="52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9999"/>
                <a:gridCol w="4140000"/>
              </a:tblGrid>
              <a:tr h="684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622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Quantity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622" b="1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Eligible instances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Possible / Wilson-ordered pairs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231 / 226 (97.8%)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Unordered pairs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Strict concordance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148 (65.5%)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Screen ties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 (19.9%)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Discordance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551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33 (14.6%)</a:t>
                      </a:r>
                    </a:p>
                  </a:txBody>
                  <a:tcPr marL="216000" marR="179999" marT="89999" marB="72000" anchor="ctr">
                    <a:lnL w="9000">
                      <a:solidFill>
                        <a:srgbClr val="888888"/>
                      </a:solidFill>
                    </a:lnL>
                    <a:lnR w="9000">
                      <a:solidFill>
                        <a:srgbClr val="888888"/>
                      </a:solidFill>
                    </a:lnR>
                    <a:lnT w="9000">
                      <a:solidFill>
                        <a:srgbClr val="888888"/>
                      </a:solidFill>
                    </a:lnT>
                    <a:lnB w="9000">
                      <a:solidFill>
                        <a:srgbClr val="88888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ns2:creationId id="{92DB97B4-8B5D-47AD-8CA0-8857B306B7D6}"/>
              </a:ext>
            </a:extLst>
          </p:cNvPr>
          <p:cNvSpPr>
            <a:spLocks noGrp="1"/>
          </p:cNvSpPr>
          <p:nvPr/>
        </p:nvSpPr>
        <p:spPr>
          <a:xfrm>
            <a:off x="14040000" y="33408000"/>
            <a:ext cx="11880000" cy="4222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9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409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Percentages use the 226 ordered pairs.</a:t>
            </a:r>
          </a:p>
        </p:txBody>
      </p:sp>
      <p:sp>
        <p:nvSpPr>
          <p:cNvPr id="55" name="TextBox 54">
            <a:extLst>
              <a:ext uri="{FF2B5EF4-FFF2-40B4-BE49-F238E27FC236}">
                <ns2:creationId id="{7E155AE0-46BB-42D8-A427-40330167A0A3}"/>
              </a:ext>
            </a:extLst>
          </p:cNvPr>
          <p:cNvSpPr>
            <a:spLocks noGrp="1"/>
          </p:cNvSpPr>
          <p:nvPr/>
        </p:nvSpPr>
        <p:spPr>
          <a:xfrm>
            <a:off x="14040000" y="34254000"/>
            <a:ext cx="11880000" cy="4968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3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835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Screen coverage and abstentions</a:t>
            </a:r>
          </a:p>
        </p:txBody>
      </p:sp>
      <p:sp>
        <p:nvSpPr>
          <p:cNvPr id="56" name="TextBox 55">
            <a:extLst>
              <a:ext uri="{FF2B5EF4-FFF2-40B4-BE49-F238E27FC236}">
                <ns2:creationId id="{CD82732D-3FB5-453F-B89F-A665F72E3257}"/>
              </a:ext>
            </a:extLst>
          </p:cNvPr>
          <p:cNvSpPr>
            <a:spLocks noGrp="1"/>
          </p:cNvSpPr>
          <p:nvPr/>
        </p:nvSpPr>
        <p:spPr>
          <a:xfrm>
            <a:off x="14040000" y="34992000"/>
            <a:ext cx="11880000" cy="13412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551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551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Overall: 24/32 ranked, 8/32 abstentions.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551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551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Confirmatory: 22/28 ranked (78.6%), 6/28 abstentions.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551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551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Abstention = no rank assigned, not a decoding failure.</a:t>
            </a:r>
          </a:p>
        </p:txBody>
      </p:sp>
      <p:sp>
        <p:nvSpPr>
          <p:cNvPr id="57" name="Rounded Rectangle 56">
            <a:extLst>
              <a:ext uri="{FF2B5EF4-FFF2-40B4-BE49-F238E27FC236}">
                <ns2:creationId id="{AC979EA8-5165-419B-8A77-BFD36957DC1F}"/>
              </a:ext>
            </a:extLst>
          </p:cNvPr>
          <p:cNvSpPr>
            <a:spLocks noGrp="1"/>
          </p:cNvSpPr>
          <p:nvPr/>
        </p:nvSpPr>
        <p:spPr>
          <a:xfrm>
            <a:off x="1080000" y="36882000"/>
            <a:ext cx="24840000" cy="26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65A1E"/>
            </a:solidFill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TextBox 57">
            <a:extLst>
              <a:ext uri="{FF2B5EF4-FFF2-40B4-BE49-F238E27FC236}">
                <ns2:creationId id="{E29D7633-0C3A-4FE1-A99A-32A46B769792}"/>
              </a:ext>
            </a:extLst>
          </p:cNvPr>
          <p:cNvSpPr>
            <a:spLocks noGrp="1"/>
          </p:cNvSpPr>
          <p:nvPr/>
        </p:nvSpPr>
        <p:spPr>
          <a:xfrm>
            <a:off x="1440000" y="37080000"/>
            <a:ext cx="201600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827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827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 = 0.7544  ·  Ranking agreement with half credit for ties</a:t>
            </a:r>
          </a:p>
        </p:txBody>
      </p:sp>
      <p:sp>
        <p:nvSpPr>
          <p:cNvPr id="59" name="TextBox 58">
            <a:extLst>
              <a:ext uri="{FF2B5EF4-FFF2-40B4-BE49-F238E27FC236}">
                <ns2:creationId id="{BCB9634E-34EE-4CD9-A831-418DDF2B04B0}"/>
              </a:ext>
            </a:extLst>
          </p:cNvPr>
          <p:cNvSpPr>
            <a:spLocks noGrp="1"/>
          </p:cNvSpPr>
          <p:nvPr/>
        </p:nvSpPr>
        <p:spPr>
          <a:xfrm>
            <a:off x="21906000" y="37170000"/>
            <a:ext cx="3618000" cy="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118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18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Positive</a:t>
            </a:r>
          </a:p>
        </p:txBody>
      </p:sp>
      <p:sp>
        <p:nvSpPr>
          <p:cNvPr id="60" name="TextBox 59">
            <a:extLst>
              <a:ext uri="{FF2B5EF4-FFF2-40B4-BE49-F238E27FC236}">
                <ns2:creationId id="{A3BC7892-3932-4FA4-AF9A-07305511326B}"/>
              </a:ext>
            </a:extLst>
          </p:cNvPr>
          <p:cNvSpPr>
            <a:spLocks noGrp="1"/>
          </p:cNvSpPr>
          <p:nvPr/>
        </p:nvSpPr>
        <p:spPr>
          <a:xfrm>
            <a:off x="1440000" y="37836000"/>
            <a:ext cx="24120000" cy="52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3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83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 = (148 + 0.5 × 45) / 226. The no-information reference is 0.5.</a:t>
            </a:r>
          </a:p>
        </p:txBody>
      </p:sp>
      <p:sp>
        <p:nvSpPr>
          <p:cNvPr id="61" name="TextBox 60">
            <a:extLst>
              <a:ext uri="{FF2B5EF4-FFF2-40B4-BE49-F238E27FC236}">
                <ns2:creationId id="{EA1037B2-9A9C-4B68-9292-87B73550455C}"/>
              </a:ext>
            </a:extLst>
          </p:cNvPr>
          <p:cNvSpPr>
            <a:spLocks noGrp="1"/>
          </p:cNvSpPr>
          <p:nvPr/>
        </p:nvSpPr>
        <p:spPr>
          <a:xfrm>
            <a:off x="1440000" y="38394000"/>
            <a:ext cx="24120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22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22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95% code-resampling stability interval: [0.6262, 0.8382]. Stability to eligible-bank composition.</a:t>
            </a:r>
          </a:p>
        </p:txBody>
      </p:sp>
      <p:sp>
        <p:nvSpPr>
          <p:cNvPr id="62" name="TextBox 61">
            <a:extLst>
              <a:ext uri="{FF2B5EF4-FFF2-40B4-BE49-F238E27FC236}">
                <ns2:creationId id="{BF7DBF7F-A2EF-43E3-B952-190BF98416F9}"/>
              </a:ext>
            </a:extLst>
          </p:cNvPr>
          <p:cNvSpPr>
            <a:spLocks noGrp="1"/>
          </p:cNvSpPr>
          <p:nvPr/>
        </p:nvSpPr>
        <p:spPr>
          <a:xfrm>
            <a:off x="1440000" y="38952000"/>
            <a:ext cx="24120000" cy="50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22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22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Positive rule met: ≥20 ordered pairs and lower bound &gt;0.5. Supports coarse instance ranking at this point.</a:t>
            </a:r>
          </a:p>
        </p:txBody>
      </p:sp>
      <p:sp>
        <p:nvSpPr>
          <p:cNvPr id="63" name="TextBox 62">
            <a:extLst>
              <a:ext uri="{FF2B5EF4-FFF2-40B4-BE49-F238E27FC236}">
                <ns2:creationId id="{D13FF463-E02C-4B93-93FB-7BD36221980D}"/>
              </a:ext>
            </a:extLst>
          </p:cNvPr>
          <p:cNvSpPr>
            <a:spLocks noGrp="1"/>
          </p:cNvSpPr>
          <p:nvPr/>
        </p:nvSpPr>
        <p:spPr>
          <a:xfrm>
            <a:off x="1080000" y="39780000"/>
            <a:ext cx="24840000" cy="75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827" b="1">
                <a:solidFill>
                  <a:srgbClr val="0B2A4A"/>
                </a:solidFill>
                <a:latin typeface="DejaVu Sans"/>
                <a:ea typeface="DejaVu Sans"/>
                <a:cs typeface="DejaVu Sans"/>
              </a:defRPr>
            </a:pPr>
            <a:r>
              <a:rPr sz="3827" b="1">
                <a:solidFill>
                  <a:srgbClr val="0B2A4A"/>
                </a:solidFill>
                <a:latin typeface="DejaVu Sans"/>
                <a:ea typeface="DejaVu Sans"/>
                <a:cs typeface="DejaVu Sans"/>
              </a:rPr>
              <a:t>5  Conclusion and future work</a:t>
            </a:r>
          </a:p>
        </p:txBody>
      </p:sp>
      <p:sp>
        <p:nvSpPr>
          <p:cNvPr id="64" name="Rounded Rectangle 63">
            <a:extLst>
              <a:ext uri="{FF2B5EF4-FFF2-40B4-BE49-F238E27FC236}">
                <ns2:creationId id="{B6FE25B5-1DAD-4A1C-942C-DC66D0C97FA2}"/>
              </a:ext>
            </a:extLst>
          </p:cNvPr>
          <p:cNvSpPr>
            <a:spLocks noGrp="1"/>
          </p:cNvSpPr>
          <p:nvPr/>
        </p:nvSpPr>
        <p:spPr>
          <a:xfrm>
            <a:off x="1080000" y="40590000"/>
            <a:ext cx="24840000" cy="19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65A1E"/>
            </a:solidFill>
          </a:ln>
        </p:spPr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5" name="TextBox 64">
            <a:extLst>
              <a:ext uri="{FF2B5EF4-FFF2-40B4-BE49-F238E27FC236}">
                <ns2:creationId id="{CA9C8100-28D3-4A36-AB8C-C5DC3D512861}"/>
              </a:ext>
            </a:extLst>
          </p:cNvPr>
          <p:cNvSpPr>
            <a:spLocks noGrp="1"/>
          </p:cNvSpPr>
          <p:nvPr/>
        </p:nvSpPr>
        <p:spPr>
          <a:xfrm>
            <a:off x="1440000" y="41148000"/>
            <a:ext cx="7740000" cy="1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Coarse ranks: 22 instances, C = 0.75.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Potential use: candidate triage.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No absolute LER prediction.</a:t>
            </a:r>
          </a:p>
        </p:txBody>
      </p:sp>
      <p:sp>
        <p:nvSpPr>
          <p:cNvPr id="66" name="TextBox 65">
            <a:extLst>
              <a:ext uri="{FF2B5EF4-FFF2-40B4-BE49-F238E27FC236}">
                <ns2:creationId id="{A86B9F0E-2571-4870-B01E-4E2A79591244}"/>
              </a:ext>
            </a:extLst>
          </p:cNvPr>
          <p:cNvSpPr>
            <a:spLocks noGrp="1"/>
          </p:cNvSpPr>
          <p:nvPr/>
        </p:nvSpPr>
        <p:spPr>
          <a:xfrm>
            <a:off x="9900000" y="41148000"/>
            <a:ext cx="7740000" cy="1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One point, BP+OSD-dependent screen.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Coarse values 2–8 (45 tied pairs).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6/28 confirmatory instances unranked.</a:t>
            </a:r>
          </a:p>
        </p:txBody>
      </p:sp>
      <p:sp>
        <p:nvSpPr>
          <p:cNvPr id="67" name="TextBox 66">
            <a:extLst>
              <a:ext uri="{FF2B5EF4-FFF2-40B4-BE49-F238E27FC236}">
                <ns2:creationId id="{D8E763E0-FF48-48EC-89C7-822E4AF8886C}"/>
              </a:ext>
            </a:extLst>
          </p:cNvPr>
          <p:cNvSpPr>
            <a:spLocks noGrp="1"/>
          </p:cNvSpPr>
          <p:nvPr/>
        </p:nvSpPr>
        <p:spPr>
          <a:xfrm>
            <a:off x="18360000" y="41148000"/>
            <a:ext cx="7200000" cy="1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Test new points, decoders 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independent instance banks.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93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Benchmark unproven cost savings.</a:t>
            </a:r>
          </a:p>
        </p:txBody>
      </p:sp>
      <p:sp>
        <p:nvSpPr>
          <p:cNvPr id="68" name="TextBox 67">
            <a:extLst>
              <a:ext uri="{FF2B5EF4-FFF2-40B4-BE49-F238E27FC236}">
                <ns2:creationId id="{F491A166-75B6-4BCC-84D5-A35F21A08271}"/>
              </a:ext>
            </a:extLst>
          </p:cNvPr>
          <p:cNvSpPr>
            <a:spLocks noGrp="1"/>
          </p:cNvSpPr>
          <p:nvPr/>
        </p:nvSpPr>
        <p:spPr>
          <a:xfrm>
            <a:off x="1080000" y="42660000"/>
            <a:ext cx="16200000" cy="3230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843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Corresponding author: hungdn@ptit.edu.vn</a:t>
            </a:r>
          </a:p>
        </p:txBody>
      </p:sp>
      <p:sp>
        <p:nvSpPr>
          <p:cNvPr id="69" name="TextBox 68">
            <a:extLst>
              <a:ext uri="{FF2B5EF4-FFF2-40B4-BE49-F238E27FC236}">
                <ns2:creationId id="{C7A6703C-220D-4D62-A10D-FBDCA2233E93}"/>
              </a:ext>
            </a:extLst>
          </p:cNvPr>
          <p:cNvSpPr>
            <a:spLocks noGrp="1"/>
          </p:cNvSpPr>
          <p:nvPr/>
        </p:nvSpPr>
        <p:spPr>
          <a:xfrm>
            <a:off x="18000000" y="42660000"/>
            <a:ext cx="7920000" cy="3230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843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75 × 120 cm · Research poster</a:t>
            </a:r>
          </a:p>
        </p:txBody>
      </p:sp>
      <p:sp>
        <p:nvSpPr>
          <p:cNvPr id="73" name="Before new LER labels">
            <a:extLst>
              <a:ext uri="{FF2B5EF4-FFF2-40B4-BE49-F238E27FC236}">
                <ns2:creationId id="{79C6D759-75D5-414E-A969-22528D31683A}"/>
              </a:ext>
            </a:extLst>
          </p:cNvPr>
          <p:cNvSpPr>
            <a:spLocks noGrp="1"/>
          </p:cNvSpPr>
          <p:nvPr/>
        </p:nvSpPr>
        <p:spPr>
          <a:xfrm>
            <a:off x="1080000" y="18630000"/>
            <a:ext cx="11880000" cy="46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1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551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Before new LER labels</a:t>
            </a:r>
          </a:p>
        </p:txBody>
      </p:sp>
      <p:sp>
        <p:nvSpPr>
          <p:cNvPr id="74" name="">
            <a:extLst>
              <a:ext uri="{FF2B5EF4-FFF2-40B4-BE49-F238E27FC236}">
                <ns2:creationId id="{D707FCB1-2896-435C-BB6F-CD35A90AD094}"/>
              </a:ext>
            </a:extLst>
          </p:cNvPr>
          <p:cNvSpPr>
            <a:spLocks noGrp="1"/>
          </p:cNvSpPr>
          <p:nvPr/>
        </p:nvSpPr>
        <p:spPr>
          <a:xfrm>
            <a:off x="2988000" y="19206000"/>
            <a:ext cx="8064000" cy="77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88888"/>
            </a:solidFill>
          </a:ln>
        </p:spPr>
      </p:sp>
      <p:sp>
        <p:nvSpPr>
          <p:cNvPr id="75" name="Flattened DEM (H_DEM, O)">
            <a:extLst>
              <a:ext uri="{FF2B5EF4-FFF2-40B4-BE49-F238E27FC236}">
                <ns2:creationId id="{822D458C-EF04-4746-8E65-8FC9815755FB}"/>
              </a:ext>
            </a:extLst>
          </p:cNvPr>
          <p:cNvSpPr>
            <a:spLocks noGrp="1"/>
          </p:cNvSpPr>
          <p:nvPr/>
        </p:nvSpPr>
        <p:spPr>
          <a:xfrm>
            <a:off x="3168000" y="19080000"/>
            <a:ext cx="7704000" cy="77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83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835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Flattened DEM (</a:t>
            </a:r>
            <a:r>
              <a:rPr sz="2835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H</a:t>
            </a:r>
            <a:r>
              <a:rPr sz="2835" b="1" baseline="-250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DEM</a:t>
            </a:r>
            <a:r>
              <a:rPr sz="2835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, O)</a:t>
            </a:r>
          </a:p>
        </p:txBody>
      </p:sp>
      <p:sp>
        <p:nvSpPr>
          <p:cNvPr id="76" name="">
            <a:extLst>
              <a:ext uri="{FF2B5EF4-FFF2-40B4-BE49-F238E27FC236}">
                <ns2:creationId id="{F4C6FF7D-2602-4FE0-B3D8-1305AA74FC5E}"/>
              </a:ext>
            </a:extLst>
          </p:cNvPr>
          <p:cNvSpPr>
            <a:spLocks noGrp="1"/>
          </p:cNvSpPr>
          <p:nvPr/>
        </p:nvSpPr>
        <p:spPr>
          <a:xfrm>
            <a:off x="1440000" y="20340000"/>
            <a:ext cx="4860000" cy="118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88888"/>
            </a:solidFill>
          </a:ln>
        </p:spPr>
      </p:sp>
      <p:sp>
        <p:nvSpPr>
          <p:cNvPr id="77" name="">
            <a:extLst>
              <a:ext uri="{FF2B5EF4-FFF2-40B4-BE49-F238E27FC236}">
                <ns2:creationId id="{EF6573D2-1BE8-4089-81F4-431B783E3DE5}"/>
              </a:ext>
            </a:extLst>
          </p:cNvPr>
          <p:cNvSpPr>
            <a:spLocks noGrp="1"/>
          </p:cNvSpPr>
          <p:nvPr/>
        </p:nvSpPr>
        <p:spPr>
          <a:xfrm>
            <a:off x="7740000" y="20340000"/>
            <a:ext cx="4860000" cy="118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88888"/>
            </a:solidFill>
          </a:ln>
        </p:spPr>
      </p:sp>
      <p:sp>
        <p:nvSpPr>
          <p:cNvPr id="78" name="Pivoting certificate">
            <a:extLst>
              <a:ext uri="{FF2B5EF4-FFF2-40B4-BE49-F238E27FC236}">
                <ns2:creationId id="{34B4279B-0686-45DC-944E-114850C85D29}"/>
              </a:ext>
            </a:extLst>
          </p:cNvPr>
          <p:cNvSpPr>
            <a:spLocks noGrp="1"/>
          </p:cNvSpPr>
          <p:nvPr/>
        </p:nvSpPr>
        <p:spPr>
          <a:xfrm>
            <a:off x="1620000" y="20394000"/>
            <a:ext cx="4500000" cy="41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48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48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Pivoting certificate</a:t>
            </a:r>
          </a:p>
        </p:txBody>
      </p:sp>
      <p:sp>
        <p:nvSpPr>
          <p:cNvPr id="79" name="U_cert">
            <a:extLst>
              <a:ext uri="{FF2B5EF4-FFF2-40B4-BE49-F238E27FC236}">
                <ns2:creationId id="{6642F0CF-2B4E-4199-8B26-A62D0B15EEB7}"/>
              </a:ext>
            </a:extLst>
          </p:cNvPr>
          <p:cNvSpPr>
            <a:spLocks noGrp="1"/>
          </p:cNvSpPr>
          <p:nvPr/>
        </p:nvSpPr>
        <p:spPr>
          <a:xfrm>
            <a:off x="1800000" y="20880000"/>
            <a:ext cx="4140000" cy="55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326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26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U</a:t>
            </a:r>
            <a:r>
              <a:rPr sz="3260" b="0" baseline="-250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cert</a:t>
            </a:r>
          </a:p>
        </p:txBody>
      </p:sp>
      <p:sp>
        <p:nvSpPr>
          <p:cNvPr id="80" name="Randomized BP+OSD">
            <a:extLst>
              <a:ext uri="{FF2B5EF4-FFF2-40B4-BE49-F238E27FC236}">
                <ns2:creationId id="{47FE97A0-9F42-4639-9C0F-503086A7D2C5}"/>
              </a:ext>
            </a:extLst>
          </p:cNvPr>
          <p:cNvSpPr>
            <a:spLocks noGrp="1"/>
          </p:cNvSpPr>
          <p:nvPr/>
        </p:nvSpPr>
        <p:spPr>
          <a:xfrm>
            <a:off x="7920000" y="20394000"/>
            <a:ext cx="4500000" cy="41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48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48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Randomized BP+OSD</a:t>
            </a:r>
          </a:p>
        </p:txBody>
      </p:sp>
      <p:sp>
        <p:nvSpPr>
          <p:cNvPr id="81" name="d̂_upper">
            <a:extLst>
              <a:ext uri="{FF2B5EF4-FFF2-40B4-BE49-F238E27FC236}">
                <ns2:creationId id="{B3F05704-C9A3-47BE-A33E-ABA830F48DCC}"/>
              </a:ext>
            </a:extLst>
          </p:cNvPr>
          <p:cNvSpPr>
            <a:spLocks noGrp="1"/>
          </p:cNvSpPr>
          <p:nvPr/>
        </p:nvSpPr>
        <p:spPr>
          <a:xfrm>
            <a:off x="7920000" y="20880000"/>
            <a:ext cx="4500000" cy="55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326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26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d̂</a:t>
            </a:r>
            <a:r>
              <a:rPr sz="3260" b="0" baseline="-250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upper</a:t>
            </a:r>
          </a:p>
        </p:txBody>
      </p:sp>
      <p:sp>
        <p:nvSpPr>
          <p:cNvPr id="84" name="">
            <a:extLst>
              <a:ext uri="{FF2B5EF4-FFF2-40B4-BE49-F238E27FC236}">
                <ns2:creationId id="{1C711616-1B0E-4F18-8B12-92F5695164B0}"/>
              </a:ext>
            </a:extLst>
          </p:cNvPr>
          <p:cNvSpPr>
            <a:spLocks noGrp="1"/>
          </p:cNvSpPr>
          <p:nvPr/>
        </p:nvSpPr>
        <p:spPr>
          <a:xfrm>
            <a:off x="1440000" y="22914000"/>
            <a:ext cx="11160000" cy="91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88888"/>
            </a:solidFill>
          </a:ln>
        </p:spPr>
      </p:sp>
      <p:sp>
        <p:nvSpPr>
          <p:cNvPr id="85" name="Fresh BP+OSD sampling → rank test">
            <a:extLst>
              <a:ext uri="{FF2B5EF4-FFF2-40B4-BE49-F238E27FC236}">
                <ns2:creationId id="{B5DCEAA7-BF31-465B-B7AF-6945DFF88D44}"/>
              </a:ext>
            </a:extLst>
          </p:cNvPr>
          <p:cNvSpPr>
            <a:spLocks noGrp="1"/>
          </p:cNvSpPr>
          <p:nvPr/>
        </p:nvSpPr>
        <p:spPr>
          <a:xfrm>
            <a:off x="1620000" y="23076000"/>
            <a:ext cx="10800000" cy="54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83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835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Fresh BP+OSD sampling → rank test</a:t>
            </a:r>
          </a:p>
        </p:txBody>
      </p:sp>
      <p:sp>
        <p:nvSpPr>
          <p:cNvPr id="86" name="">
            <a:extLst>
              <a:ext uri="{FF2B5EF4-FFF2-40B4-BE49-F238E27FC236}">
                <ns2:creationId id="{C0E5B6ED-E4C7-46AA-9252-2DCB280B4519}"/>
              </a:ext>
            </a:extLst>
          </p:cNvPr>
          <p:cNvSpPr>
            <a:spLocks noGrp="1"/>
          </p:cNvSpPr>
          <p:nvPr/>
        </p:nvSpPr>
        <p:spPr>
          <a:xfrm>
            <a:off x="3870000" y="22914000"/>
            <a:ext cx="18000" cy="18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87" name="">
            <a:extLst>
              <a:ext uri="{FF2B5EF4-FFF2-40B4-BE49-F238E27FC236}">
                <ns2:creationId id="{03FAB186-DED2-4979-B0DD-B76F8FEE48F3}"/>
              </a:ext>
            </a:extLst>
          </p:cNvPr>
          <p:cNvSpPr>
            <a:spLocks noGrp="1"/>
          </p:cNvSpPr>
          <p:nvPr/>
        </p:nvSpPr>
        <p:spPr>
          <a:xfrm>
            <a:off x="10170000" y="22914000"/>
            <a:ext cx="18000" cy="18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0" name="">
            <a:extLst>
              <a:ext uri="{FF2B5EF4-FFF2-40B4-BE49-F238E27FC236}">
                <ns2:creationId id="{43C50807-0D70-4605-8005-C37BD956A466}"/>
              </a:ext>
            </a:extLst>
          </p:cNvPr>
          <p:cNvSpPr>
            <a:spLocks noGrp="1"/>
          </p:cNvSpPr>
          <p:nvPr/>
        </p:nvSpPr>
        <p:spPr>
          <a:xfrm>
            <a:off x="1080000" y="22068000"/>
            <a:ext cx="11880000" cy="0"/>
          </a:xfrm>
          <a:prstGeom prst="line">
            <a:avLst/>
          </a:prstGeom>
          <a:noFill/>
          <a:ln w="14288">
            <a:solidFill>
              <a:srgbClr val="111111"/>
            </a:solidFill>
            <a:prstDash val="dash"/>
          </a:ln>
        </p:spPr>
      </p:sp>
      <p:sp>
        <p:nvSpPr>
          <p:cNvPr id="91" name="FREEZE BOUNDARY">
            <a:extLst>
              <a:ext uri="{FF2B5EF4-FFF2-40B4-BE49-F238E27FC236}">
                <ns2:creationId id="{A3A5A433-D9C2-4FF8-A062-3689C92A95BA}"/>
              </a:ext>
            </a:extLst>
          </p:cNvPr>
          <p:cNvSpPr>
            <a:spLocks noGrp="1"/>
          </p:cNvSpPr>
          <p:nvPr/>
        </p:nvSpPr>
        <p:spPr>
          <a:xfrm>
            <a:off x="4788000" y="21618000"/>
            <a:ext cx="4464000" cy="43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268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268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FREEZE BOUNDARY</a:t>
            </a:r>
          </a:p>
        </p:txBody>
      </p:sp>
      <p:sp>
        <p:nvSpPr>
          <p:cNvPr id="92" name="After new LER labels">
            <a:extLst>
              <a:ext uri="{FF2B5EF4-FFF2-40B4-BE49-F238E27FC236}">
                <ns2:creationId id="{FA51BB89-74E3-4AFE-84FF-BC2D248A3A1F}"/>
              </a:ext>
            </a:extLst>
          </p:cNvPr>
          <p:cNvSpPr>
            <a:spLocks noGrp="1"/>
          </p:cNvSpPr>
          <p:nvPr/>
        </p:nvSpPr>
        <p:spPr>
          <a:xfrm>
            <a:off x="4788000" y="22284000"/>
            <a:ext cx="4464000" cy="45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48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48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After new LER labels</a:t>
            </a:r>
          </a:p>
        </p:txBody>
      </p:sp>
      <p:sp>
        <p:nvSpPr>
          <p:cNvPr id="93" name="Fig. 1. Structural results freeze before">
            <a:extLst>
              <a:ext uri="{FF2B5EF4-FFF2-40B4-BE49-F238E27FC236}">
                <ns2:creationId id="{B37DC54D-0D1D-444D-B0D8-A1DAB076840C}"/>
              </a:ext>
            </a:extLst>
          </p:cNvPr>
          <p:cNvSpPr>
            <a:spLocks noGrp="1"/>
          </p:cNvSpPr>
          <p:nvPr/>
        </p:nvSpPr>
        <p:spPr>
          <a:xfrm>
            <a:off x="1080000" y="24102000"/>
            <a:ext cx="11880000" cy="79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39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39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Fig. 1. Structural results freeze before fresh labels.</a:t>
            </a:r>
          </a:p>
          <a:p>
            <a:pPr algn="l">
              <a:lnSpc>
                <a:spcPct val="115000"/>
              </a:lnSpc>
              <a:buNone/>
              <a:defRPr sz="2339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39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Two search phases must agree, otherwise abstain.</a:t>
            </a:r>
          </a:p>
        </p:txBody>
      </p:sp>
      <p:sp>
        <p:nvSpPr>
          <p:cNvPr id="94" name="Lower LER is better">
            <a:extLst>
              <a:ext uri="{FF2B5EF4-FFF2-40B4-BE49-F238E27FC236}">
                <ns2:creationId id="{B1D2B42C-68EE-4017-9500-2C30CBCCE46A}"/>
              </a:ext>
            </a:extLst>
          </p:cNvPr>
          <p:cNvSpPr>
            <a:spLocks noGrp="1"/>
          </p:cNvSpPr>
          <p:nvPr/>
        </p:nvSpPr>
        <p:spPr>
          <a:xfrm>
            <a:off x="1080000" y="27720000"/>
            <a:ext cx="5040000" cy="4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8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48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Lower LER is better</a:t>
            </a:r>
          </a:p>
        </p:txBody>
      </p:sp>
      <p:sp>
        <p:nvSpPr>
          <p:cNvPr id="95" name="">
            <a:extLst>
              <a:ext uri="{FF2B5EF4-FFF2-40B4-BE49-F238E27FC236}">
                <ns2:creationId id="{483E118A-236D-477E-B04B-4314758301DC}"/>
              </a:ext>
            </a:extLst>
          </p:cNvPr>
          <p:cNvSpPr>
            <a:spLocks noGrp="1"/>
          </p:cNvSpPr>
          <p:nvPr/>
        </p:nvSpPr>
        <p:spPr>
          <a:xfrm>
            <a:off x="6264000" y="29844000"/>
            <a:ext cx="18000" cy="18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6" name="">
            <a:extLst>
              <a:ext uri="{FF2B5EF4-FFF2-40B4-BE49-F238E27FC236}">
                <ns2:creationId id="{B6A5E6E3-0033-46E5-B0C1-924907AB4F53}"/>
              </a:ext>
            </a:extLst>
          </p:cNvPr>
          <p:cNvSpPr>
            <a:spLocks noGrp="1"/>
          </p:cNvSpPr>
          <p:nvPr/>
        </p:nvSpPr>
        <p:spPr>
          <a:xfrm>
            <a:off x="3690000" y="31050000"/>
            <a:ext cx="18000" cy="18000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71" name=""/>
          <p:cNvCxnSpPr>
            <a:stCxn id="95" idx="1"/>
            <a:endCxn id="96" idx="3"/>
          </p:cNvCxnSpPr>
          <p:nvPr/>
        </p:nvCxnSpPr>
        <p:spPr>
          <a:xfrm flipH="1">
            <a:off x="3708000" y="29853000"/>
            <a:ext cx="2556000" cy="1206000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98" name="">
            <a:extLst>
              <a:ext uri="{FF2B5EF4-FFF2-40B4-BE49-F238E27FC236}">
                <ns2:creationId id="{AC43B71B-15C4-4C5A-A46C-E2770597CA47}"/>
              </a:ext>
            </a:extLst>
          </p:cNvPr>
          <p:cNvSpPr>
            <a:spLocks noGrp="1"/>
          </p:cNvSpPr>
          <p:nvPr/>
        </p:nvSpPr>
        <p:spPr>
          <a:xfrm>
            <a:off x="1080000" y="29340000"/>
            <a:ext cx="756000" cy="486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9" name="Circuit-level LER">
            <a:extLst>
              <a:ext uri="{FF2B5EF4-FFF2-40B4-BE49-F238E27FC236}">
                <ns2:creationId id="{81FC64DA-5911-4BD4-8717-1C82F292E33D}"/>
              </a:ext>
            </a:extLst>
          </p:cNvPr>
          <p:cNvSpPr>
            <a:spLocks noGrp="1"/>
          </p:cNvSpPr>
          <p:nvPr/>
        </p:nvSpPr>
        <p:spPr>
          <a:xfrm>
            <a:off x="1170000" y="29520000"/>
            <a:ext cx="594000" cy="459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 vert="vert270">
            <a:noAutofit/>
          </a:bodyPr>
          <a:lstStyle/>
          <a:p>
            <a:pPr algn="l">
              <a:lnSpc>
                <a:spcPct val="115000"/>
              </a:lnSpc>
              <a:buNone/>
              <a:defRPr sz="2976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976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Circuit-level LER</a:t>
            </a:r>
          </a:p>
        </p:txBody>
      </p:sp>
      <p:sp>
        <p:nvSpPr>
          <p:cNvPr id="100" name="">
            <a:extLst>
              <a:ext uri="{FF2B5EF4-FFF2-40B4-BE49-F238E27FC236}">
                <ns2:creationId id="{4BCC3149-7138-4AFE-A422-11DE1EB81D8D}"/>
              </a:ext>
            </a:extLst>
          </p:cNvPr>
          <p:cNvSpPr>
            <a:spLocks noGrp="1"/>
          </p:cNvSpPr>
          <p:nvPr/>
        </p:nvSpPr>
        <p:spPr>
          <a:xfrm>
            <a:off x="5130000" y="34650000"/>
            <a:ext cx="3780000" cy="102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01" name="d̂_upper">
            <a:extLst>
              <a:ext uri="{FF2B5EF4-FFF2-40B4-BE49-F238E27FC236}">
                <ns2:creationId id="{3987EAFD-CBB6-4278-BFB6-5A3DB57F5809}"/>
              </a:ext>
            </a:extLst>
          </p:cNvPr>
          <p:cNvSpPr>
            <a:spLocks noGrp="1"/>
          </p:cNvSpPr>
          <p:nvPr/>
        </p:nvSpPr>
        <p:spPr>
          <a:xfrm>
            <a:off x="5130000" y="34812000"/>
            <a:ext cx="3780000" cy="75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buNone/>
              <a:defRPr sz="3969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969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d̂</a:t>
            </a:r>
            <a:r>
              <a:rPr sz="3969" b="0" baseline="-250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upper</a:t>
            </a:r>
          </a:p>
        </p:txBody>
      </p:sp>
      <p:sp>
        <p:nvSpPr>
          <p:cNvPr id="172" name="Conclusion label Conclusion">
            <a:extLst>
              <a:ext uri="{FF2B5EF4-FFF2-40B4-BE49-F238E27FC236}">
                <ns2:creationId id="{65D88EA1-DA82-4364-8CCB-75BF7E45D354}"/>
              </a:ext>
            </a:extLst>
          </p:cNvPr>
          <p:cNvSpPr>
            <a:spLocks noGrp="1"/>
          </p:cNvSpPr>
          <p:nvPr/>
        </p:nvSpPr>
        <p:spPr>
          <a:xfrm>
            <a:off x="1440000" y="40716000"/>
            <a:ext cx="7740000" cy="45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693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93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Conclusion</a:t>
            </a:r>
          </a:p>
        </p:txBody>
      </p:sp>
      <p:sp>
        <p:nvSpPr>
          <p:cNvPr id="173" name="Conclusion label Scope">
            <a:extLst>
              <a:ext uri="{FF2B5EF4-FFF2-40B4-BE49-F238E27FC236}">
                <ns2:creationId id="{0D76217F-BD9F-4F1C-B435-AADB83AA3C93}"/>
              </a:ext>
            </a:extLst>
          </p:cNvPr>
          <p:cNvSpPr>
            <a:spLocks noGrp="1"/>
          </p:cNvSpPr>
          <p:nvPr/>
        </p:nvSpPr>
        <p:spPr>
          <a:xfrm>
            <a:off x="9900000" y="40716000"/>
            <a:ext cx="7740000" cy="45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693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93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Scope</a:t>
            </a:r>
          </a:p>
        </p:txBody>
      </p:sp>
      <p:sp>
        <p:nvSpPr>
          <p:cNvPr id="174" name="Conclusion label Future work">
            <a:extLst>
              <a:ext uri="{FF2B5EF4-FFF2-40B4-BE49-F238E27FC236}">
                <ns2:creationId id="{F1A20E25-3FC1-4B40-A0EF-3AD270FCC392}"/>
              </a:ext>
            </a:extLst>
          </p:cNvPr>
          <p:cNvSpPr>
            <a:spLocks noGrp="1"/>
          </p:cNvSpPr>
          <p:nvPr/>
        </p:nvSpPr>
        <p:spPr>
          <a:xfrm>
            <a:off x="18360000" y="40716000"/>
            <a:ext cx="7200000" cy="45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693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693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Future work</a:t>
            </a:r>
          </a:p>
        </p:txBody>
      </p:sp>
      <p:pic>
        <p:nvPicPr>
          <p:cNvPr id="175" name=""/>
          <p:cNvPicPr>
            <a:picLocks noChangeAspect="1"/>
          </p:cNvPicPr>
          <p:nvPr/>
        </p:nvPicPr>
        <p:blipFill>
          <a:blip r:embed="rIdConferenceLogoV7"/>
          <a:stretch/>
        </p:blipFill>
        <p:spPr>
          <a:xfrm>
            <a:off x="1080000" y="342000"/>
            <a:ext cx="2700000" cy="1148031"/>
          </a:xfrm>
          <a:prstGeom prst="rect">
            <a:avLst/>
          </a:prstGeom>
        </p:spPr>
      </p:pic>
    </p:spTree>
    <p:extLst>
      <p:ext uri="{BB962C8B-B14F-4D97-AF65-F5344CB8AC3E}">
        <ns4:creationId val="55706756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2026-10-07T02:14:13.3460000Z</dcterms:created>
  <dcterms:modified xsi:type="dcterms:W3CDTF">2026-10-07T02:14:13.3460000Z</dcterms:modified>
</coreProperties>
</file>